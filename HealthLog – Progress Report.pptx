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65" r:id="rId5"/>
    <p:sldId id="260" r:id="rId6"/>
    <p:sldId id="261" r:id="rId7"/>
    <p:sldId id="262" r:id="rId9"/>
    <p:sldId id="263" r:id="rId10"/>
    <p:sldId id="264" r:id="rId11"/>
    <p:sldId id="258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096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43688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688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7"/>
            </p:custDataLst>
          </p:nvPr>
        </p:nvSpPr>
        <p:spPr>
          <a:xfrm>
            <a:off x="81280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1280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左内容右文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528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33528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5" hasCustomPrompt="1"/>
            <p:custDataLst>
              <p:tags r:id="rId6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9916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9916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6" hasCustomPrompt="1"/>
            <p:custDataLst>
              <p:tags r:id="rId9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352800" y="41021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352800" y="46609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内容占位符 15"/>
          <p:cNvSpPr>
            <a:spLocks noGrp="1"/>
          </p:cNvSpPr>
          <p:nvPr>
            <p:ph idx="16397" hasCustomPrompt="1"/>
            <p:custDataLst>
              <p:tags r:id="rId12"/>
            </p:custDataLst>
          </p:nvPr>
        </p:nvSpPr>
        <p:spPr>
          <a:xfrm>
            <a:off x="62484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991600" y="41021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991600" y="46609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图标配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4732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3340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91948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文右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7" hasCustomPrompt="1"/>
            <p:custDataLst>
              <p:tags r:id="rId3"/>
            </p:custDataLst>
          </p:nvPr>
        </p:nvSpPr>
        <p:spPr>
          <a:xfrm>
            <a:off x="6096000" y="3962400"/>
            <a:ext cx="2590800" cy="2286000"/>
          </a:xfrm>
          <a:custGeom>
            <a:avLst/>
            <a:gdLst>
              <a:gd name="connisteX0" fmla="*/ 0 w 2590800"/>
              <a:gd name="connsiteY0" fmla="*/ 203200 h 2286000"/>
              <a:gd name="connisteX1" fmla="*/ 203200 w 2590800"/>
              <a:gd name="connsiteY1" fmla="*/ 0 h 2286000"/>
              <a:gd name="connisteX2" fmla="*/ 2387600 w 2590800"/>
              <a:gd name="connsiteY2" fmla="*/ 0 h 2286000"/>
              <a:gd name="connisteX3" fmla="*/ 2590800 w 2590800"/>
              <a:gd name="connsiteY3" fmla="*/ 203200 h 2286000"/>
              <a:gd name="connisteX4" fmla="*/ 2590800 w 2590800"/>
              <a:gd name="connsiteY4" fmla="*/ 2082800 h 2286000"/>
              <a:gd name="connisteX5" fmla="*/ 2387600 w 2590800"/>
              <a:gd name="connsiteY5" fmla="*/ 2286000 h 2286000"/>
              <a:gd name="connisteX6" fmla="*/ 203200 w 2590800"/>
              <a:gd name="connsiteY6" fmla="*/ 2286000 h 2286000"/>
              <a:gd name="connisteX7" fmla="*/ 0 w 2590800"/>
              <a:gd name="connsiteY7" fmla="*/ 2082800 h 2286000"/>
              <a:gd name="connisteX8" fmla="*/ 0 w 25908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908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87600" y="0"/>
                </a:lnTo>
                <a:cubicBezTo>
                  <a:pt x="2499824" y="0"/>
                  <a:pt x="2590800" y="90976"/>
                  <a:pt x="2590800" y="203200"/>
                </a:cubicBezTo>
                <a:lnTo>
                  <a:pt x="2590800" y="2082800"/>
                </a:lnTo>
                <a:cubicBezTo>
                  <a:pt x="2590800" y="2195024"/>
                  <a:pt x="2499824" y="2286000"/>
                  <a:pt x="23876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内容占位符 7"/>
          <p:cNvSpPr>
            <a:spLocks noGrp="1"/>
          </p:cNvSpPr>
          <p:nvPr>
            <p:ph idx="16388" hasCustomPrompt="1"/>
            <p:custDataLst>
              <p:tags r:id="rId4"/>
            </p:custDataLst>
          </p:nvPr>
        </p:nvSpPr>
        <p:spPr>
          <a:xfrm>
            <a:off x="8991600" y="3962400"/>
            <a:ext cx="2590800" cy="2286000"/>
          </a:xfrm>
          <a:custGeom>
            <a:avLst/>
            <a:gdLst>
              <a:gd name="connisteX0" fmla="*/ 0 w 2590800"/>
              <a:gd name="connsiteY0" fmla="*/ 203200 h 2286000"/>
              <a:gd name="connisteX1" fmla="*/ 203200 w 2590800"/>
              <a:gd name="connsiteY1" fmla="*/ 0 h 2286000"/>
              <a:gd name="connisteX2" fmla="*/ 2387600 w 2590800"/>
              <a:gd name="connsiteY2" fmla="*/ 0 h 2286000"/>
              <a:gd name="connisteX3" fmla="*/ 2590800 w 2590800"/>
              <a:gd name="connsiteY3" fmla="*/ 203200 h 2286000"/>
              <a:gd name="connisteX4" fmla="*/ 2590800 w 2590800"/>
              <a:gd name="connsiteY4" fmla="*/ 2082800 h 2286000"/>
              <a:gd name="connisteX5" fmla="*/ 2387600 w 2590800"/>
              <a:gd name="connsiteY5" fmla="*/ 2286000 h 2286000"/>
              <a:gd name="connisteX6" fmla="*/ 203200 w 2590800"/>
              <a:gd name="connsiteY6" fmla="*/ 2286000 h 2286000"/>
              <a:gd name="connisteX7" fmla="*/ 0 w 2590800"/>
              <a:gd name="connsiteY7" fmla="*/ 2082800 h 2286000"/>
              <a:gd name="connisteX8" fmla="*/ 0 w 25908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908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87600" y="0"/>
                </a:lnTo>
                <a:cubicBezTo>
                  <a:pt x="2499824" y="0"/>
                  <a:pt x="2590800" y="90976"/>
                  <a:pt x="2590800" y="203200"/>
                </a:cubicBezTo>
                <a:lnTo>
                  <a:pt x="2590800" y="2082800"/>
                </a:lnTo>
                <a:cubicBezTo>
                  <a:pt x="2590800" y="2195024"/>
                  <a:pt x="2499824" y="2286000"/>
                  <a:pt x="23876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89" hasCustomPrompt="1"/>
            <p:custDataLst>
              <p:tags r:id="rId5"/>
            </p:custDataLst>
          </p:nvPr>
        </p:nvSpPr>
        <p:spPr>
          <a:xfrm>
            <a:off x="6096000" y="1524000"/>
            <a:ext cx="5486400" cy="2286000"/>
          </a:xfrm>
          <a:custGeom>
            <a:avLst/>
            <a:gdLst>
              <a:gd name="connisteX0" fmla="*/ 0 w 5486400"/>
              <a:gd name="connsiteY0" fmla="*/ 203200 h 2286000"/>
              <a:gd name="connisteX1" fmla="*/ 203200 w 5486400"/>
              <a:gd name="connsiteY1" fmla="*/ 0 h 2286000"/>
              <a:gd name="connisteX2" fmla="*/ 5283200 w 5486400"/>
              <a:gd name="connsiteY2" fmla="*/ 0 h 2286000"/>
              <a:gd name="connisteX3" fmla="*/ 5486400 w 5486400"/>
              <a:gd name="connsiteY3" fmla="*/ 203200 h 2286000"/>
              <a:gd name="connisteX4" fmla="*/ 5486400 w 5486400"/>
              <a:gd name="connsiteY4" fmla="*/ 2082800 h 2286000"/>
              <a:gd name="connisteX5" fmla="*/ 5283200 w 5486400"/>
              <a:gd name="connsiteY5" fmla="*/ 2286000 h 2286000"/>
              <a:gd name="connisteX6" fmla="*/ 203200 w 5486400"/>
              <a:gd name="connsiteY6" fmla="*/ 2286000 h 2286000"/>
              <a:gd name="connisteX7" fmla="*/ 0 w 5486400"/>
              <a:gd name="connsiteY7" fmla="*/ 2082800 h 2286000"/>
              <a:gd name="connisteX8" fmla="*/ 0 w 5486400"/>
              <a:gd name="connsiteY8" fmla="*/ 203200 h 228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228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2082800"/>
                </a:lnTo>
                <a:cubicBezTo>
                  <a:pt x="5486400" y="2195024"/>
                  <a:pt x="5395424" y="2286000"/>
                  <a:pt x="5283200" y="2286000"/>
                </a:cubicBezTo>
                <a:lnTo>
                  <a:pt x="203200" y="2286000"/>
                </a:lnTo>
                <a:cubicBezTo>
                  <a:pt x="90976" y="2286000"/>
                  <a:pt x="0" y="2195024"/>
                  <a:pt x="0" y="208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5029200" cy="472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Relationship Id="rId3" Type="http://schemas.openxmlformats.org/officeDocument/2006/relationships/image" Target="../media/image1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137.xml"/><Relationship Id="rId7" Type="http://schemas.openxmlformats.org/officeDocument/2006/relationships/image" Target="../media/image3.png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image" Target="../media/image2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image" Target="../media/image5.png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image" Target="../media/image4.png"/><Relationship Id="rId2" Type="http://schemas.openxmlformats.org/officeDocument/2006/relationships/tags" Target="../tags/tag139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tags" Target="../tags/tag1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image" Target="../media/image8.png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image" Target="../media/image7.png"/><Relationship Id="rId2" Type="http://schemas.openxmlformats.org/officeDocument/2006/relationships/tags" Target="../tags/tag147.xml"/><Relationship Id="rId15" Type="http://schemas.openxmlformats.org/officeDocument/2006/relationships/slideLayout" Target="../slideLayouts/slideLayout15.xml"/><Relationship Id="rId14" Type="http://schemas.openxmlformats.org/officeDocument/2006/relationships/tags" Target="../tags/tag155.xml"/><Relationship Id="rId13" Type="http://schemas.openxmlformats.org/officeDocument/2006/relationships/image" Target="../media/image10.png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image" Target="../media/image9.png"/><Relationship Id="rId1" Type="http://schemas.openxmlformats.org/officeDocument/2006/relationships/tags" Target="../tags/tag14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image" Target="../media/image12.png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image" Target="../media/image11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2" Type="http://schemas.openxmlformats.org/officeDocument/2006/relationships/slideLayout" Target="../slideLayouts/slideLayout16.xml"/><Relationship Id="rId11" Type="http://schemas.openxmlformats.org/officeDocument/2006/relationships/tags" Target="../tags/tag163.xml"/><Relationship Id="rId10" Type="http://schemas.openxmlformats.org/officeDocument/2006/relationships/image" Target="../media/image13.png"/><Relationship Id="rId1" Type="http://schemas.openxmlformats.org/officeDocument/2006/relationships/tags" Target="../tags/tag15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image" Target="../media/image16.png"/><Relationship Id="rId6" Type="http://schemas.openxmlformats.org/officeDocument/2006/relationships/tags" Target="../tags/tag170.xml"/><Relationship Id="rId5" Type="http://schemas.openxmlformats.org/officeDocument/2006/relationships/image" Target="../media/image15.png"/><Relationship Id="rId4" Type="http://schemas.openxmlformats.org/officeDocument/2006/relationships/tags" Target="../tags/tag169.xml"/><Relationship Id="rId3" Type="http://schemas.openxmlformats.org/officeDocument/2006/relationships/image" Target="../media/image14.png"/><Relationship Id="rId2" Type="http://schemas.openxmlformats.org/officeDocument/2006/relationships/tags" Target="../tags/tag168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6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340" y="1130300"/>
            <a:ext cx="9799320" cy="918210"/>
          </a:xfrm>
        </p:spPr>
        <p:txBody>
          <a:bodyPr/>
          <a:p>
            <a:r>
              <a:rPr lang="en-US" altLang="zh-CN" sz="4400"/>
              <a:t>HealthLog – Progress Report</a:t>
            </a:r>
            <a:endParaRPr lang="en-US" altLang="zh-CN" sz="4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zh-CN"/>
              <a:t>N</a:t>
            </a:r>
            <a:r>
              <a:rPr lang="en-US" altLang="zh-CN"/>
              <a:t>ame :WANG ZUZAN</a:t>
            </a:r>
            <a:endParaRPr lang="en-US" altLang="zh-CN"/>
          </a:p>
          <a:p>
            <a:r>
              <a:rPr lang="en-US" altLang="zh-CN"/>
              <a:t>Student ID : c3552364</a:t>
            </a:r>
            <a:endParaRPr lang="en-US" altLang="zh-CN"/>
          </a:p>
          <a:p>
            <a:r>
              <a:rPr lang="en-US" altLang="zh-CN"/>
              <a:t>Module:INFT 2051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/>
              <a:t>APP Purpose</a:t>
            </a:r>
            <a:endParaRPr lang="en-US" altLang="zh-CN"/>
          </a:p>
        </p:txBody>
      </p:sp>
      <p:sp>
        <p:nvSpPr>
          <p:cNvPr id="12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600" y="1486535"/>
            <a:ext cx="3454400" cy="3435985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914400" y="2640965"/>
            <a:ext cx="2844800" cy="3048635"/>
          </a:xfrm>
        </p:spPr>
        <p:txBody>
          <a:bodyPr>
            <a:noAutofit/>
          </a:bodyPr>
          <a:p>
            <a:r>
              <a:rPr lang="en-US" altLang="zh-CN"/>
              <a:t>HealthLog is a mobile app to help users track their daily food.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4" name="装饰  9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>
          <a:xfrm>
            <a:off x="4368800" y="1524000"/>
            <a:ext cx="3454400" cy="3397885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Users can enter food and get simple nutrition information, such as calories, protein, carbs, and fat.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7" name="装饰  2"/>
          <p:cNvSpPr>
            <a:spLocks noGrp="1"/>
          </p:cNvSpPr>
          <p:nvPr>
            <p:ph type="body" idx="16394"/>
            <p:custDataLst>
              <p:tags r:id="rId6"/>
            </p:custDataLst>
          </p:nvPr>
        </p:nvSpPr>
        <p:spPr>
          <a:xfrm>
            <a:off x="8128000" y="1524000"/>
            <a:ext cx="3454400" cy="339852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The goal is to help users understand their eating habits and improve their health.</a:t>
            </a:r>
            <a:endParaRPr lang="en-US" altLang="zh-CN"/>
          </a:p>
          <a:p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Core Functionality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b="1"/>
              <a:t>Core Functionality</a:t>
            </a:r>
            <a:endParaRPr lang="en-US" altLang="zh-CN" b="1"/>
          </a:p>
          <a:p>
            <a:pPr marL="0" indent="0">
              <a:buNone/>
            </a:pPr>
            <a:r>
              <a:rPr lang="en-US" altLang="zh-CN">
                <a:sym typeface="+mn-ea"/>
              </a:rPr>
              <a:t>1.Set ideal nutrition intake based on user profile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2.Allow users to enter multiple foods for total nutrition estimation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3.Compare actual intake with ideal nutrition goals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4.Provide reminders based on nutrition results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90" y="1313815"/>
            <a:ext cx="3075940" cy="4239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</a:t>
            </a:r>
            <a:r>
              <a:rPr lang="en-US" altLang="zh-CN"/>
              <a:t>esign Improvement</a:t>
            </a:r>
            <a:endParaRPr lang="en-US" altLang="zh-CN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8330" y="1429385"/>
            <a:ext cx="5342255" cy="1158875"/>
          </a:xfrm>
        </p:spPr>
        <p:txBody>
          <a:bodyPr>
            <a:normAutofit fontScale="85000"/>
          </a:bodyPr>
          <a:p>
            <a:r>
              <a:rPr lang="en-US" altLang="zh-CN"/>
              <a:t>Before:</a:t>
            </a:r>
            <a:endParaRPr lang="en-US" altLang="zh-CN"/>
          </a:p>
          <a:p>
            <a:r>
              <a:rPr lang="en-US" altLang="zh-CN" b="0"/>
              <a:t>1.Static date</a:t>
            </a:r>
            <a:endParaRPr lang="en-US" altLang="zh-CN" b="0"/>
          </a:p>
          <a:p>
            <a:r>
              <a:rPr lang="en-US" altLang="zh-CN" b="0"/>
              <a:t>2.No feedback message</a:t>
            </a:r>
            <a:endParaRPr lang="en-US" altLang="zh-CN" b="0"/>
          </a:p>
        </p:txBody>
      </p:sp>
      <p:pic>
        <p:nvPicPr>
          <p:cNvPr id="18" name="内容占位符 17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38275" y="2868295"/>
            <a:ext cx="2525395" cy="2748280"/>
          </a:xfrm>
          <a:prstGeom prst="rect">
            <a:avLst/>
          </a:prstGeom>
        </p:spPr>
      </p:pic>
      <p:sp>
        <p:nvSpPr>
          <p:cNvPr id="14" name="文本占位符 13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00" y="1421765"/>
            <a:ext cx="5786755" cy="1167130"/>
          </a:xfrm>
        </p:spPr>
        <p:txBody>
          <a:bodyPr>
            <a:normAutofit fontScale="85000"/>
          </a:bodyPr>
          <a:p>
            <a:r>
              <a:rPr lang="en-US" altLang="zh-CN"/>
              <a:t>Updated:</a:t>
            </a:r>
            <a:endParaRPr lang="en-US" altLang="zh-CN"/>
          </a:p>
          <a:p>
            <a:r>
              <a:rPr lang="en-US" altLang="zh-CN" b="0"/>
              <a:t>1.Dynamic system date</a:t>
            </a:r>
            <a:endParaRPr lang="en-US" altLang="zh-CN" b="0"/>
          </a:p>
          <a:p>
            <a:r>
              <a:rPr lang="en-US" altLang="zh-CN" b="0"/>
              <a:t>2.Pop-up reminder added</a:t>
            </a:r>
            <a:endParaRPr lang="en-US" altLang="zh-CN" b="0"/>
          </a:p>
        </p:txBody>
      </p:sp>
      <p:pic>
        <p:nvPicPr>
          <p:cNvPr id="17" name="内容占位符 16"/>
          <p:cNvPicPr>
            <a:picLocks noChangeAspect="1"/>
          </p:cNvPicPr>
          <p:nvPr>
            <p:ph sz="quarter" idx="4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30745" y="2868295"/>
            <a:ext cx="2400935" cy="275272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External Technologies Used</a:t>
            </a:r>
            <a:endParaRPr lang="en-US" altLang="zh-CN">
              <a:sym typeface="+mn-ea"/>
            </a:endParaRPr>
          </a:p>
        </p:txBody>
      </p:sp>
      <p:pic>
        <p:nvPicPr>
          <p:cNvPr id="9" name="内容占位符 8"/>
          <p:cNvPicPr>
            <a:picLocks noChangeAspect="1"/>
          </p:cNvPicPr>
          <p:nvPr>
            <p:ph idx="16389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9815" y="2299970"/>
            <a:ext cx="2694940" cy="2214245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1202055" y="4862195"/>
            <a:ext cx="2798445" cy="5416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/>
              <a:t>1.SQLite – store user records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0" name="内容占位符 9"/>
          <p:cNvPicPr>
            <a:picLocks noChangeAspect="1"/>
          </p:cNvPicPr>
          <p:nvPr>
            <p:ph idx="16390"/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76495" y="2299970"/>
            <a:ext cx="2238375" cy="256222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>
          <a:xfrm>
            <a:off x="4746625" y="4862195"/>
            <a:ext cx="2884170" cy="630555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2..NET MAUI – build mobile UI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1" name="内容占位符 10"/>
          <p:cNvPicPr>
            <a:picLocks noChangeAspect="1"/>
          </p:cNvPicPr>
          <p:nvPr>
            <p:ph idx="16391"/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128000" y="2299335"/>
            <a:ext cx="3716020" cy="256286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9135745" y="4862195"/>
            <a:ext cx="2707640" cy="422275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3.C# – implement logic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Technical Difficulties &amp; Solutions</a:t>
            </a:r>
            <a:endParaRPr lang="en-US" altLang="zh-CN">
              <a:sym typeface="+mn-ea"/>
            </a:endParaRPr>
          </a:p>
        </p:txBody>
      </p:sp>
      <p:pic>
        <p:nvPicPr>
          <p:cNvPr id="16" name="内容占位符 15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9600" y="1657350"/>
            <a:ext cx="2438400" cy="194246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3352800" y="2000250"/>
            <a:ext cx="2590800" cy="15240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1. Database storage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Use SQLite</a:t>
            </a:r>
            <a:endParaRPr lang="en-US" altLang="zh-CN"/>
          </a:p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8991600" y="1866900"/>
            <a:ext cx="2590800" cy="15240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2. Date synchronization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Use system time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endParaRPr lang="zh-CN" altLang="en-US"/>
          </a:p>
        </p:txBody>
      </p:sp>
      <p:pic>
        <p:nvPicPr>
          <p:cNvPr id="22" name="内容占位符 21"/>
          <p:cNvPicPr>
            <a:picLocks noChangeAspect="1"/>
          </p:cNvPicPr>
          <p:nvPr>
            <p:ph idx="16396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" y="4381500"/>
            <a:ext cx="2438400" cy="1367155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>
          <a:xfrm>
            <a:off x="3352800" y="4381500"/>
            <a:ext cx="2590800" cy="15240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3. Multiple food input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Combine inputs and calculate total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23" name="内容占位符 22"/>
          <p:cNvPicPr>
            <a:picLocks noChangeAspect="1"/>
          </p:cNvPicPr>
          <p:nvPr>
            <p:ph idx="16397"/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248400" y="4381500"/>
            <a:ext cx="2562225" cy="1455420"/>
          </a:xfrm>
          <a:prstGeom prst="rect">
            <a:avLst/>
          </a:prstGeom>
        </p:spPr>
      </p:pic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>
          <a:xfrm>
            <a:off x="8991600" y="4381500"/>
            <a:ext cx="2590800" cy="15240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4. User feedback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Use pop-up messages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25" name="内容占位符 24"/>
          <p:cNvPicPr>
            <a:picLocks noChangeAspect="1"/>
          </p:cNvPicPr>
          <p:nvPr>
            <p:ph idx="16395"/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194425" y="2000250"/>
            <a:ext cx="2492375" cy="85598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/>
              <a:t>Action Plan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1.Add more common food data for better input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6" name="图片占位符 15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34000" y="1922780"/>
            <a:ext cx="1885315" cy="1589405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2.Implement Goals feature to customise nutrition targets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7" name="图片占位符 16"/>
          <p:cNvPicPr>
            <a:picLocks noChangeAspect="1"/>
          </p:cNvPicPr>
          <p:nvPr>
            <p:ph type="pic" idx="16394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194800" y="1879600"/>
            <a:ext cx="1815465" cy="1632585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3.Allow users to adjust font size in settings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5" name="图片占位符 14"/>
          <p:cNvPicPr>
            <a:picLocks noChangeAspect="1"/>
          </p:cNvPicPr>
          <p:nvPr>
            <p:ph type="pic" idx="16392"/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473200" y="1913890"/>
            <a:ext cx="1870710" cy="159829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sym typeface="+mn-ea"/>
              </a:rPr>
              <a:t>Project Difficulties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b="1"/>
              <a:t>Difficulties: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1.Limited time for development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2.Learning SQLite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3.Managing multiple features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Solutions: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1.Focus on core functions first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2.Learn through practice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3.Gradual implementation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sym typeface="+mn-ea"/>
              </a:rPr>
              <a:t>Code Demonstration</a:t>
            </a:r>
            <a:endParaRPr lang="en-US" altLang="zh-CN">
              <a:sym typeface="+mn-ea"/>
            </a:endParaRPr>
          </a:p>
        </p:txBody>
      </p:sp>
      <p:pic>
        <p:nvPicPr>
          <p:cNvPr id="15" name="内容占位符 14"/>
          <p:cNvPicPr>
            <a:picLocks noChangeAspect="1"/>
          </p:cNvPicPr>
          <p:nvPr>
            <p:ph idx="16387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74640" y="3988435"/>
            <a:ext cx="3002915" cy="1971675"/>
          </a:xfrm>
          <a:prstGeom prst="rect">
            <a:avLst/>
          </a:prstGeom>
        </p:spPr>
      </p:pic>
      <p:pic>
        <p:nvPicPr>
          <p:cNvPr id="17" name="内容占位符 16"/>
          <p:cNvPicPr>
            <a:picLocks noChangeAspect="1"/>
          </p:cNvPicPr>
          <p:nvPr>
            <p:ph idx="16388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724900" y="3988435"/>
            <a:ext cx="3263265" cy="1971675"/>
          </a:xfrm>
          <a:prstGeom prst="rect">
            <a:avLst/>
          </a:prstGeom>
        </p:spPr>
      </p:pic>
      <p:pic>
        <p:nvPicPr>
          <p:cNvPr id="18" name="内容占位符 17"/>
          <p:cNvPicPr>
            <a:picLocks noChangeAspect="1"/>
          </p:cNvPicPr>
          <p:nvPr>
            <p:ph idx="16389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54420" y="1206500"/>
            <a:ext cx="5368290" cy="22860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idx="16386"/>
            <p:custDataLst>
              <p:tags r:id="rId8"/>
            </p:custDataLst>
          </p:nvPr>
        </p:nvSpPr>
        <p:spPr>
          <a:xfrm>
            <a:off x="519430" y="1524000"/>
            <a:ext cx="5171440" cy="372427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b="1">
                <a:sym typeface="+mn-ea"/>
              </a:rPr>
              <a:t>Current features:</a:t>
            </a:r>
            <a:endParaRPr lang="en-US" altLang="zh-CN" b="1"/>
          </a:p>
          <a:p>
            <a:pPr marL="0" indent="0">
              <a:buNone/>
            </a:pPr>
            <a:r>
              <a:rPr lang="en-US" altLang="zh-CN">
                <a:sym typeface="+mn-ea"/>
              </a:rPr>
              <a:t>- User login page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- Three kinds of food input and nutrition estimation(apple,egg,chicken)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- Pop-up reminder messages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- View &amp; delete records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42180" y="2225040"/>
            <a:ext cx="407035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Usability Testing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b="1"/>
              <a:t>What we tested: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1.Food input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2.Navigation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3.Record viewing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Findings: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1.Easy to use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2.Some confusion with multiple food input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Improvements: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1.Simplified input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2.Added feedback messages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276465" y="9613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Summary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zh-CN"/>
          </a:p>
          <a:p>
            <a:r>
              <a:rPr lang="en-US" altLang="zh-CN"/>
              <a:t>The system can estimate nutrition and store user records</a:t>
            </a:r>
            <a:endParaRPr lang="en-US" altLang="zh-CN"/>
          </a:p>
          <a:p>
            <a:r>
              <a:rPr lang="en-US" altLang="zh-CN"/>
              <a:t>It helps users understand their daily intake</a:t>
            </a:r>
            <a:endParaRPr lang="en-US" altLang="zh-CN"/>
          </a:p>
          <a:p>
            <a:r>
              <a:rPr lang="en-US" altLang="zh-CN"/>
              <a:t>The interface is simple and easy to use</a:t>
            </a:r>
            <a:endParaRPr lang="en-US" altLang="zh-CN"/>
          </a:p>
          <a:p>
            <a:r>
              <a:rPr lang="en-US" altLang="zh-CN"/>
              <a:t>Future improvements will enhance functionality and user experience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                                   </a:t>
            </a:r>
            <a:r>
              <a:rPr lang="en-US" altLang="zh-CN" sz="2400" b="1"/>
              <a:t> Thank you</a:t>
            </a:r>
            <a:endParaRPr lang="en-US" altLang="zh-CN" sz="2400" b="1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729c5df993cbfd84b2871ad89b345b9612db0c"/>
  <p:tag name="KSO_WM_NEWLAYOUT_ID" val="slide_a81418525f254632"/>
</p:tagLst>
</file>

<file path=ppt/tags/tag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de303542f6622486202509b1e53bc1a5f418546"/>
  <p:tag name="KSO_WM_NEWLAYOUT_ID" val="slide_a736eb13ee1e7479"/>
</p:tagLst>
</file>

<file path=ppt/tags/tag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f47b024ae2d10730901440ec5d748b959d37a2"/>
  <p:tag name="KSO_WM_NEWLAYOUT_ID" val="slide_b20d78d373fd59d9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2ede7f84cd729cd0d1e19e8337c0ca96cc9099"/>
  <p:tag name="KSO_WM_NEWLAYOUT_ID" val="slide_883b99dbb417f5ab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fa8a54e7adee0739134972e8815c9d0ad378299"/>
  <p:tag name="KSO_WM_NEWLAYOUT_ID" val="slide_df190c9fa32d7017"/>
</p:tagLst>
</file>

<file path=ppt/tags/tag98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4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1e90e96f6be07b38a6798819355005d02bd759"/>
  <p:tag name="KSO_WM_NEWLAYOUT_ID" val="slide_a0b148215da27114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110.xml><?xml version="1.0" encoding="utf-8"?>
<p:tagLst xmlns:p="http://schemas.openxmlformats.org/presentationml/2006/main">
  <p:tag name="KSO_WM_BEAUTIFY_FLAG" val="#fgm#"/>
  <p:tag name="KSO_WM_FIGMA_FLAG" val="#fgm#"/>
  <p:tag name="KSO_WM_UNIT_INDEX" val="3"/>
  <p:tag name="KSO_WM_UNIT_TYPE" val="d"/>
</p:tagLst>
</file>

<file path=ppt/tags/tag1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ade303542f6622486202509b1e53bc1a5f418546"/>
  <p:tag name="KSO_WM_NEWLAYOUT_ID" val="slide_a736eb13ee1e7479"/>
</p:tagLst>
</file>

<file path=ppt/tags/tag1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a736eb13ee1e7479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f8f47b024ae2d10730901440ec5d748b959d37a2"/>
  <p:tag name="KSO_WM_NEWLAYOUT_ID" val="slide_b20d78d373fd59d9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b20d78d373fd59d9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ae2ede7f84cd729cd0d1e19e8337c0ca96cc9099"/>
  <p:tag name="KSO_WM_NEWLAYOUT_ID" val="slide_883b99dbb417f5ab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SLIDE_ID" val="slide_883b99dbb417f5ab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cfa8a54e7adee0739134972e8815c9d0ad378299"/>
  <p:tag name="KSO_WM_NEWLAYOUT_ID" val="slide_df190c9fa32d7017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0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df190c9fa32d7017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1e90e96f6be07b38a6798819355005d02bd759"/>
  <p:tag name="KSO_WM_NEWLAYOUT_ID" val="slide_a0b148215da27114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d"/>
</p:tagLst>
</file>

<file path=ppt/tags/tag169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3"/>
  <p:tag name="KSO_WM_UNIT_TYPE" val="d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TEMPLATE_SLIDE_ID" val="slide_a0b148215da27114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2002</Words>
  <Application>WPS 演示</Application>
  <PresentationFormat>宽屏</PresentationFormat>
  <Paragraphs>120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HealthLog – Progress Report</vt:lpstr>
      <vt:lpstr>APP Purpose</vt:lpstr>
      <vt:lpstr>Core Functionality</vt:lpstr>
      <vt:lpstr>Design Improvement</vt:lpstr>
      <vt:lpstr>External Technologies Used</vt:lpstr>
      <vt:lpstr>Technical Difficulties &amp; Solutions</vt:lpstr>
      <vt:lpstr>Action Plan</vt:lpstr>
      <vt:lpstr>Project Difficulties</vt:lpstr>
      <vt:lpstr>Code Demonstration</vt:lpstr>
      <vt:lpstr>Usability Testing Summary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汪祖赞</cp:lastModifiedBy>
  <cp:revision>165</cp:revision>
  <dcterms:created xsi:type="dcterms:W3CDTF">2019-06-19T02:08:00Z</dcterms:created>
  <dcterms:modified xsi:type="dcterms:W3CDTF">2026-03-22T08:52:48Z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DB7069307C104FD5A9B771DBFCFD9480_11</vt:lpwstr>
  </property>
</Properties>
</file>